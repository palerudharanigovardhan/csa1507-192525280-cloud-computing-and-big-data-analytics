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Poppins" charset="1" panose="00000500000000000000"/>
      <p:regular r:id="rId17"/>
    </p:embeddedFont>
    <p:embeddedFont>
      <p:font typeface="Museo Moderno Bold" charset="1" panose="00000000000000000000"/>
      <p:regular r:id="rId18"/>
    </p:embeddedFont>
    <p:embeddedFont>
      <p:font typeface="Poppins Bold" charset="1" panose="000008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Relationship Id="rId4" Target="../media/image6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2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9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0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0568" y="301181"/>
            <a:ext cx="11301259" cy="1455037"/>
          </a:xfrm>
          <a:custGeom>
            <a:avLst/>
            <a:gdLst/>
            <a:ahLst/>
            <a:cxnLst/>
            <a:rect r="r" b="b" t="t" l="l"/>
            <a:pathLst>
              <a:path h="1455037" w="11301259">
                <a:moveTo>
                  <a:pt x="0" y="0"/>
                </a:moveTo>
                <a:lnTo>
                  <a:pt x="11301259" y="0"/>
                </a:lnTo>
                <a:lnTo>
                  <a:pt x="11301259" y="1455038"/>
                </a:lnTo>
                <a:lnTo>
                  <a:pt x="0" y="14550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Saveetha Institute of Medical And Technical Sciences - [SIMATS ..."/>
          <p:cNvSpPr/>
          <p:nvPr/>
        </p:nvSpPr>
        <p:spPr>
          <a:xfrm flipH="false" flipV="false" rot="0">
            <a:off x="471853" y="217331"/>
            <a:ext cx="1113694" cy="1113694"/>
          </a:xfrm>
          <a:custGeom>
            <a:avLst/>
            <a:gdLst/>
            <a:ahLst/>
            <a:cxnLst/>
            <a:rect r="r" b="b" t="t" l="l"/>
            <a:pathLst>
              <a:path h="1113694" w="1113694">
                <a:moveTo>
                  <a:pt x="0" y="0"/>
                </a:moveTo>
                <a:lnTo>
                  <a:pt x="1113694" y="0"/>
                </a:lnTo>
                <a:lnTo>
                  <a:pt x="1113694" y="1113694"/>
                </a:lnTo>
                <a:lnTo>
                  <a:pt x="0" y="111369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6829001" y="217331"/>
            <a:ext cx="860599" cy="1132553"/>
          </a:xfrm>
          <a:custGeom>
            <a:avLst/>
            <a:gdLst/>
            <a:ahLst/>
            <a:cxnLst/>
            <a:rect r="r" b="b" t="t" l="l"/>
            <a:pathLst>
              <a:path h="1132553" w="860599">
                <a:moveTo>
                  <a:pt x="0" y="0"/>
                </a:moveTo>
                <a:lnTo>
                  <a:pt x="860598" y="0"/>
                </a:lnTo>
                <a:lnTo>
                  <a:pt x="860598" y="1132553"/>
                </a:lnTo>
                <a:lnTo>
                  <a:pt x="0" y="113255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5971489" y="3990956"/>
            <a:ext cx="1721323" cy="1056952"/>
          </a:xfrm>
          <a:custGeom>
            <a:avLst/>
            <a:gdLst/>
            <a:ahLst/>
            <a:cxnLst/>
            <a:rect r="r" b="b" t="t" l="l"/>
            <a:pathLst>
              <a:path h="1056952" w="1721323">
                <a:moveTo>
                  <a:pt x="0" y="0"/>
                </a:moveTo>
                <a:lnTo>
                  <a:pt x="1721324" y="0"/>
                </a:lnTo>
                <a:lnTo>
                  <a:pt x="1721324" y="1056952"/>
                </a:lnTo>
                <a:lnTo>
                  <a:pt x="0" y="10569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-22142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1254424" y="4313138"/>
            <a:ext cx="734770" cy="734770"/>
          </a:xfrm>
          <a:custGeom>
            <a:avLst/>
            <a:gdLst/>
            <a:ahLst/>
            <a:cxnLst/>
            <a:rect r="r" b="b" t="t" l="l"/>
            <a:pathLst>
              <a:path h="734770" w="734770">
                <a:moveTo>
                  <a:pt x="0" y="0"/>
                </a:moveTo>
                <a:lnTo>
                  <a:pt x="734770" y="0"/>
                </a:lnTo>
                <a:lnTo>
                  <a:pt x="734770" y="734770"/>
                </a:lnTo>
                <a:lnTo>
                  <a:pt x="0" y="73477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71853" y="7490495"/>
            <a:ext cx="7220960" cy="1381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Guided By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Dr.Gnana Soundari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SIMATS Engineering</a:t>
            </a:r>
          </a:p>
          <a:p>
            <a:pPr algn="l">
              <a:lnSpc>
                <a:spcPts val="2759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672898" y="3246994"/>
            <a:ext cx="15586402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Qua</a:t>
            </a:r>
            <a:r>
              <a:rPr lang="en-US" sz="6000" b="true">
                <a:solidFill>
                  <a:srgbClr val="000000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ntum Computing as a Service (QCaaS):</a:t>
            </a:r>
          </a:p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The Next Frontier of Cloud Platforms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235539" y="2388785"/>
            <a:ext cx="14910729" cy="352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 b="true">
                <a:solidFill>
                  <a:srgbClr val="0D0D0D"/>
                </a:solidFill>
                <a:latin typeface="Poppins Bold"/>
                <a:ea typeface="Poppins Bold"/>
                <a:cs typeface="Poppins Bold"/>
                <a:sym typeface="Poppins Bold"/>
              </a:rPr>
              <a:t>CSA1507 - CLOUD COMPUTING AND BIG DATA ANALYTICS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406403" y="7490495"/>
            <a:ext cx="7220960" cy="172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Presented </a:t>
            </a:r>
            <a:r>
              <a:rPr lang="en-US" sz="22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By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192525280 - P.Dharani Govardhan</a:t>
            </a:r>
          </a:p>
          <a:p>
            <a:pPr algn="l">
              <a:lnSpc>
                <a:spcPts val="2759"/>
              </a:lnSpc>
            </a:pPr>
            <a:r>
              <a:rPr lang="en-US" sz="22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192525169 - Nagella Jeevan Sai</a:t>
            </a:r>
          </a:p>
          <a:p>
            <a:pPr algn="l">
              <a:lnSpc>
                <a:spcPts val="2759"/>
              </a:lnSpc>
            </a:pPr>
          </a:p>
          <a:p>
            <a:pPr algn="l">
              <a:lnSpc>
                <a:spcPts val="2759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2636" y="254475"/>
            <a:ext cx="766064" cy="1008145"/>
          </a:xfrm>
          <a:custGeom>
            <a:avLst/>
            <a:gdLst/>
            <a:ahLst/>
            <a:cxnLst/>
            <a:rect r="r" b="b" t="t" l="l"/>
            <a:pathLst>
              <a:path h="1008145" w="766064">
                <a:moveTo>
                  <a:pt x="0" y="0"/>
                </a:moveTo>
                <a:lnTo>
                  <a:pt x="766064" y="0"/>
                </a:lnTo>
                <a:lnTo>
                  <a:pt x="766064" y="1008145"/>
                </a:lnTo>
                <a:lnTo>
                  <a:pt x="0" y="100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Saveetha Institute of Medical And Technical Sciences - [SIMATS ..."/>
          <p:cNvSpPr/>
          <p:nvPr/>
        </p:nvSpPr>
        <p:spPr>
          <a:xfrm flipH="false" flipV="false" rot="0">
            <a:off x="16792227" y="328474"/>
            <a:ext cx="934145" cy="934145"/>
          </a:xfrm>
          <a:custGeom>
            <a:avLst/>
            <a:gdLst/>
            <a:ahLst/>
            <a:cxnLst/>
            <a:rect r="r" b="b" t="t" l="l"/>
            <a:pathLst>
              <a:path h="934145" w="934145">
                <a:moveTo>
                  <a:pt x="0" y="0"/>
                </a:moveTo>
                <a:lnTo>
                  <a:pt x="934146" y="0"/>
                </a:lnTo>
                <a:lnTo>
                  <a:pt x="934146" y="934146"/>
                </a:lnTo>
                <a:lnTo>
                  <a:pt x="0" y="934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070672" y="2933147"/>
            <a:ext cx="6708490" cy="3773526"/>
          </a:xfrm>
          <a:custGeom>
            <a:avLst/>
            <a:gdLst/>
            <a:ahLst/>
            <a:cxnLst/>
            <a:rect r="r" b="b" t="t" l="l"/>
            <a:pathLst>
              <a:path h="3773526" w="6708490">
                <a:moveTo>
                  <a:pt x="0" y="0"/>
                </a:moveTo>
                <a:lnTo>
                  <a:pt x="6708490" y="0"/>
                </a:lnTo>
                <a:lnTo>
                  <a:pt x="6708490" y="3773525"/>
                </a:lnTo>
                <a:lnTo>
                  <a:pt x="0" y="37735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67935" y="549183"/>
            <a:ext cx="6485058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INTRODUCTION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79915" y="2382539"/>
            <a:ext cx="9843237" cy="617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Quantum Computing uses qubits instead of traditional bits.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Qubi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ts use superposition and entanglement to proce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ss information.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QCaaS provides quantum computing resources through the cloud.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Users can access quantum hardware without owning or maintaining it.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QCaaS mak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es quantum computing more accessible, scalable, and cost-effective.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62636" y="254475"/>
            <a:ext cx="766064" cy="1008145"/>
          </a:xfrm>
          <a:custGeom>
            <a:avLst/>
            <a:gdLst/>
            <a:ahLst/>
            <a:cxnLst/>
            <a:rect r="r" b="b" t="t" l="l"/>
            <a:pathLst>
              <a:path h="1008145" w="766064">
                <a:moveTo>
                  <a:pt x="0" y="0"/>
                </a:moveTo>
                <a:lnTo>
                  <a:pt x="766064" y="0"/>
                </a:lnTo>
                <a:lnTo>
                  <a:pt x="766064" y="1008145"/>
                </a:lnTo>
                <a:lnTo>
                  <a:pt x="0" y="100814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 descr="Saveetha Institute of Medical And Technical Sciences - [SIMATS ..."/>
          <p:cNvSpPr/>
          <p:nvPr/>
        </p:nvSpPr>
        <p:spPr>
          <a:xfrm flipH="false" flipV="false" rot="0">
            <a:off x="16792227" y="328474"/>
            <a:ext cx="934145" cy="934145"/>
          </a:xfrm>
          <a:custGeom>
            <a:avLst/>
            <a:gdLst/>
            <a:ahLst/>
            <a:cxnLst/>
            <a:rect r="r" b="b" t="t" l="l"/>
            <a:pathLst>
              <a:path h="934145" w="934145">
                <a:moveTo>
                  <a:pt x="0" y="0"/>
                </a:moveTo>
                <a:lnTo>
                  <a:pt x="934146" y="0"/>
                </a:lnTo>
                <a:lnTo>
                  <a:pt x="934146" y="934146"/>
                </a:lnTo>
                <a:lnTo>
                  <a:pt x="0" y="93414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871937" y="2855017"/>
            <a:ext cx="7107623" cy="3998038"/>
          </a:xfrm>
          <a:custGeom>
            <a:avLst/>
            <a:gdLst/>
            <a:ahLst/>
            <a:cxnLst/>
            <a:rect r="r" b="b" t="t" l="l"/>
            <a:pathLst>
              <a:path h="3998038" w="7107623">
                <a:moveTo>
                  <a:pt x="0" y="0"/>
                </a:moveTo>
                <a:lnTo>
                  <a:pt x="7107623" y="0"/>
                </a:lnTo>
                <a:lnTo>
                  <a:pt x="7107623" y="3998038"/>
                </a:lnTo>
                <a:lnTo>
                  <a:pt x="0" y="399803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67935" y="549183"/>
            <a:ext cx="7712366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00"/>
              </a:lnSpc>
            </a:pPr>
            <a:r>
              <a:rPr lang="en-US" sz="6000" b="true">
                <a:solidFill>
                  <a:srgbClr val="000000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Why QCaaS?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2540437"/>
            <a:ext cx="9843237" cy="617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Expensive quantum h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rdware makes direct ownership difficult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QC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aaS provides remote access to quantum computers through the cloud.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Users can run quantum programs using cloud-based tools and APIs.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It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 reduces the need for specialized infrastructure and maintenance.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QCaaS makes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 quantum computing accessible to researchers, developers, and businesses.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Saveetha Institute of Medical And Technical Sciences - [SIMATS ..."/>
          <p:cNvSpPr/>
          <p:nvPr/>
        </p:nvSpPr>
        <p:spPr>
          <a:xfrm flipH="false" flipV="false" rot="0">
            <a:off x="16792227" y="328474"/>
            <a:ext cx="934145" cy="934145"/>
          </a:xfrm>
          <a:custGeom>
            <a:avLst/>
            <a:gdLst/>
            <a:ahLst/>
            <a:cxnLst/>
            <a:rect r="r" b="b" t="t" l="l"/>
            <a:pathLst>
              <a:path h="934145" w="934145">
                <a:moveTo>
                  <a:pt x="0" y="0"/>
                </a:moveTo>
                <a:lnTo>
                  <a:pt x="934146" y="0"/>
                </a:lnTo>
                <a:lnTo>
                  <a:pt x="934146" y="934146"/>
                </a:lnTo>
                <a:lnTo>
                  <a:pt x="0" y="934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2636" y="254475"/>
            <a:ext cx="766064" cy="1008145"/>
          </a:xfrm>
          <a:custGeom>
            <a:avLst/>
            <a:gdLst/>
            <a:ahLst/>
            <a:cxnLst/>
            <a:rect r="r" b="b" t="t" l="l"/>
            <a:pathLst>
              <a:path h="1008145" w="766064">
                <a:moveTo>
                  <a:pt x="0" y="0"/>
                </a:moveTo>
                <a:lnTo>
                  <a:pt x="766064" y="0"/>
                </a:lnTo>
                <a:lnTo>
                  <a:pt x="766064" y="1008145"/>
                </a:lnTo>
                <a:lnTo>
                  <a:pt x="0" y="1008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921507" y="1490460"/>
            <a:ext cx="4870720" cy="7306081"/>
          </a:xfrm>
          <a:custGeom>
            <a:avLst/>
            <a:gdLst/>
            <a:ahLst/>
            <a:cxnLst/>
            <a:rect r="r" b="b" t="t" l="l"/>
            <a:pathLst>
              <a:path h="7306081" w="4870720">
                <a:moveTo>
                  <a:pt x="0" y="0"/>
                </a:moveTo>
                <a:lnTo>
                  <a:pt x="4870720" y="0"/>
                </a:lnTo>
                <a:lnTo>
                  <a:pt x="4870720" y="7306080"/>
                </a:lnTo>
                <a:lnTo>
                  <a:pt x="0" y="7306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928385" y="-272429"/>
            <a:ext cx="11769633" cy="15350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788"/>
              </a:lnSpc>
            </a:pPr>
            <a:r>
              <a:rPr lang="en-US" b="true" sz="6000" spc="-9">
                <a:solidFill>
                  <a:srgbClr val="363636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 HOW QCAAS WORKS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4565" y="2505942"/>
            <a:ext cx="10100655" cy="617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Quantum Program: User creates a quantum circuit using a quantum SDK.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Cloud Submission: The program is sent to the QCaaS platform through the internet.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J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ob Processing: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 The cloud pla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tform schedules the job 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on a simulator or QPU.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Quantu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m Execution: The quantum processor executes the circuit and measures the qubits.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Res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ult: Measurement results are returned to the user for analysis.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Saveetha Institute of Medical And Technical Sciences - [SIMATS ..."/>
          <p:cNvSpPr/>
          <p:nvPr/>
        </p:nvSpPr>
        <p:spPr>
          <a:xfrm flipH="false" flipV="false" rot="0">
            <a:off x="16792227" y="328474"/>
            <a:ext cx="934145" cy="934145"/>
          </a:xfrm>
          <a:custGeom>
            <a:avLst/>
            <a:gdLst/>
            <a:ahLst/>
            <a:cxnLst/>
            <a:rect r="r" b="b" t="t" l="l"/>
            <a:pathLst>
              <a:path h="934145" w="934145">
                <a:moveTo>
                  <a:pt x="0" y="0"/>
                </a:moveTo>
                <a:lnTo>
                  <a:pt x="934146" y="0"/>
                </a:lnTo>
                <a:lnTo>
                  <a:pt x="934146" y="934146"/>
                </a:lnTo>
                <a:lnTo>
                  <a:pt x="0" y="934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2636" y="254475"/>
            <a:ext cx="766064" cy="1008145"/>
          </a:xfrm>
          <a:custGeom>
            <a:avLst/>
            <a:gdLst/>
            <a:ahLst/>
            <a:cxnLst/>
            <a:rect r="r" b="b" t="t" l="l"/>
            <a:pathLst>
              <a:path h="1008145" w="766064">
                <a:moveTo>
                  <a:pt x="0" y="0"/>
                </a:moveTo>
                <a:lnTo>
                  <a:pt x="766064" y="0"/>
                </a:lnTo>
                <a:lnTo>
                  <a:pt x="766064" y="1008145"/>
                </a:lnTo>
                <a:lnTo>
                  <a:pt x="0" y="1008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03966" y="1552455"/>
            <a:ext cx="12480067" cy="8320045"/>
          </a:xfrm>
          <a:custGeom>
            <a:avLst/>
            <a:gdLst/>
            <a:ahLst/>
            <a:cxnLst/>
            <a:rect r="r" b="b" t="t" l="l"/>
            <a:pathLst>
              <a:path h="8320045" w="12480067">
                <a:moveTo>
                  <a:pt x="0" y="0"/>
                </a:moveTo>
                <a:lnTo>
                  <a:pt x="12480068" y="0"/>
                </a:lnTo>
                <a:lnTo>
                  <a:pt x="12480068" y="8320044"/>
                </a:lnTo>
                <a:lnTo>
                  <a:pt x="0" y="8320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4841253" y="320683"/>
            <a:ext cx="8424743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D0D0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QCAAS ARCHITECTURE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Saveetha Institute of Medical And Technical Sciences - [SIMATS ..."/>
          <p:cNvSpPr/>
          <p:nvPr/>
        </p:nvSpPr>
        <p:spPr>
          <a:xfrm flipH="false" flipV="false" rot="0">
            <a:off x="16792227" y="328474"/>
            <a:ext cx="934145" cy="934145"/>
          </a:xfrm>
          <a:custGeom>
            <a:avLst/>
            <a:gdLst/>
            <a:ahLst/>
            <a:cxnLst/>
            <a:rect r="r" b="b" t="t" l="l"/>
            <a:pathLst>
              <a:path h="934145" w="934145">
                <a:moveTo>
                  <a:pt x="0" y="0"/>
                </a:moveTo>
                <a:lnTo>
                  <a:pt x="934146" y="0"/>
                </a:lnTo>
                <a:lnTo>
                  <a:pt x="934146" y="934146"/>
                </a:lnTo>
                <a:lnTo>
                  <a:pt x="0" y="934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2636" y="254475"/>
            <a:ext cx="766064" cy="1008145"/>
          </a:xfrm>
          <a:custGeom>
            <a:avLst/>
            <a:gdLst/>
            <a:ahLst/>
            <a:cxnLst/>
            <a:rect r="r" b="b" t="t" l="l"/>
            <a:pathLst>
              <a:path h="1008145" w="766064">
                <a:moveTo>
                  <a:pt x="0" y="0"/>
                </a:moveTo>
                <a:lnTo>
                  <a:pt x="766064" y="0"/>
                </a:lnTo>
                <a:lnTo>
                  <a:pt x="766064" y="1008145"/>
                </a:lnTo>
                <a:lnTo>
                  <a:pt x="0" y="1008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583389" y="2979662"/>
            <a:ext cx="7142984" cy="4017928"/>
          </a:xfrm>
          <a:custGeom>
            <a:avLst/>
            <a:gdLst/>
            <a:ahLst/>
            <a:cxnLst/>
            <a:rect r="r" b="b" t="t" l="l"/>
            <a:pathLst>
              <a:path h="4017928" w="7142984">
                <a:moveTo>
                  <a:pt x="0" y="0"/>
                </a:moveTo>
                <a:lnTo>
                  <a:pt x="7142984" y="0"/>
                </a:lnTo>
                <a:lnTo>
                  <a:pt x="7142984" y="4017928"/>
                </a:lnTo>
                <a:lnTo>
                  <a:pt x="0" y="40179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0137" y="283885"/>
            <a:ext cx="1669916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D0D0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 BENEFITS OF QCAAS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73881" y="2213985"/>
            <a:ext cx="9843237" cy="658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Accessibility: Access quantum computers through the cloud from anywhere.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Cost Efficiency: Avoid the high cost of owning quantum hardware.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Scalabili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ty: Use different quantum proce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sors and simulators 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as needed.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Easy Integration: Connect quan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tum computing with existing cloud and classical systems.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Faster Innovation: Enable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s researchers and businesses to experiment with quantum technology easily.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Saveetha Institute of Medical And Technical Sciences - [SIMATS ..."/>
          <p:cNvSpPr/>
          <p:nvPr/>
        </p:nvSpPr>
        <p:spPr>
          <a:xfrm flipH="false" flipV="false" rot="0">
            <a:off x="16792227" y="328474"/>
            <a:ext cx="934145" cy="934145"/>
          </a:xfrm>
          <a:custGeom>
            <a:avLst/>
            <a:gdLst/>
            <a:ahLst/>
            <a:cxnLst/>
            <a:rect r="r" b="b" t="t" l="l"/>
            <a:pathLst>
              <a:path h="934145" w="934145">
                <a:moveTo>
                  <a:pt x="0" y="0"/>
                </a:moveTo>
                <a:lnTo>
                  <a:pt x="934146" y="0"/>
                </a:lnTo>
                <a:lnTo>
                  <a:pt x="934146" y="934146"/>
                </a:lnTo>
                <a:lnTo>
                  <a:pt x="0" y="934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2636" y="254475"/>
            <a:ext cx="766064" cy="1008145"/>
          </a:xfrm>
          <a:custGeom>
            <a:avLst/>
            <a:gdLst/>
            <a:ahLst/>
            <a:cxnLst/>
            <a:rect r="r" b="b" t="t" l="l"/>
            <a:pathLst>
              <a:path h="1008145" w="766064">
                <a:moveTo>
                  <a:pt x="0" y="0"/>
                </a:moveTo>
                <a:lnTo>
                  <a:pt x="766064" y="0"/>
                </a:lnTo>
                <a:lnTo>
                  <a:pt x="766064" y="1008145"/>
                </a:lnTo>
                <a:lnTo>
                  <a:pt x="0" y="1008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74471" y="2570413"/>
            <a:ext cx="7219099" cy="4060743"/>
          </a:xfrm>
          <a:custGeom>
            <a:avLst/>
            <a:gdLst/>
            <a:ahLst/>
            <a:cxnLst/>
            <a:rect r="r" b="b" t="t" l="l"/>
            <a:pathLst>
              <a:path h="4060743" w="7219099">
                <a:moveTo>
                  <a:pt x="0" y="0"/>
                </a:moveTo>
                <a:lnTo>
                  <a:pt x="7219099" y="0"/>
                </a:lnTo>
                <a:lnTo>
                  <a:pt x="7219099" y="4060743"/>
                </a:lnTo>
                <a:lnTo>
                  <a:pt x="0" y="406074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0137" y="283885"/>
            <a:ext cx="1669916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D0D0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 REAL-WORLD APPLICATIONS OF QCAAS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1789861"/>
            <a:ext cx="9843237" cy="617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Drug Discovery: Simulating molecules and accelerating new drug research.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Fi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nance: Portfolio optimization, risk analy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sis, and financial modeli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ng.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Automotive: Developing advanced materials and improving EV bat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tery research.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Logistics: Optimizing r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oute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s, scheduling, and supply-chain operations.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H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ealthcare &amp; AI: Exploring complex simulations and quantum-enhanced algorithms.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Saveetha Institute of Medical And Technical Sciences - [SIMATS ..."/>
          <p:cNvSpPr/>
          <p:nvPr/>
        </p:nvSpPr>
        <p:spPr>
          <a:xfrm flipH="false" flipV="false" rot="0">
            <a:off x="16792227" y="328474"/>
            <a:ext cx="934145" cy="934145"/>
          </a:xfrm>
          <a:custGeom>
            <a:avLst/>
            <a:gdLst/>
            <a:ahLst/>
            <a:cxnLst/>
            <a:rect r="r" b="b" t="t" l="l"/>
            <a:pathLst>
              <a:path h="934145" w="934145">
                <a:moveTo>
                  <a:pt x="0" y="0"/>
                </a:moveTo>
                <a:lnTo>
                  <a:pt x="934146" y="0"/>
                </a:lnTo>
                <a:lnTo>
                  <a:pt x="934146" y="934146"/>
                </a:lnTo>
                <a:lnTo>
                  <a:pt x="0" y="934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2636" y="254475"/>
            <a:ext cx="766064" cy="1008145"/>
          </a:xfrm>
          <a:custGeom>
            <a:avLst/>
            <a:gdLst/>
            <a:ahLst/>
            <a:cxnLst/>
            <a:rect r="r" b="b" t="t" l="l"/>
            <a:pathLst>
              <a:path h="1008145" w="766064">
                <a:moveTo>
                  <a:pt x="0" y="0"/>
                </a:moveTo>
                <a:lnTo>
                  <a:pt x="766064" y="0"/>
                </a:lnTo>
                <a:lnTo>
                  <a:pt x="766064" y="1008145"/>
                </a:lnTo>
                <a:lnTo>
                  <a:pt x="0" y="1008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1381215" y="3155811"/>
            <a:ext cx="6590088" cy="3706925"/>
          </a:xfrm>
          <a:custGeom>
            <a:avLst/>
            <a:gdLst/>
            <a:ahLst/>
            <a:cxnLst/>
            <a:rect r="r" b="b" t="t" l="l"/>
            <a:pathLst>
              <a:path h="3706925" w="6590088">
                <a:moveTo>
                  <a:pt x="0" y="0"/>
                </a:moveTo>
                <a:lnTo>
                  <a:pt x="6590089" y="0"/>
                </a:lnTo>
                <a:lnTo>
                  <a:pt x="6590089" y="3706925"/>
                </a:lnTo>
                <a:lnTo>
                  <a:pt x="0" y="3706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60137" y="283885"/>
            <a:ext cx="16699163" cy="854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b="true" sz="5000">
                <a:solidFill>
                  <a:srgbClr val="0D0D0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REAL-LIFE EXAMPLE: IBM QUANTUM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65780" y="2436938"/>
            <a:ext cx="9843237" cy="617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IBM Quantum provides real quantum computers through a cloud-based platform.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Users can create quantum 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circuits using Qiskit and submit th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em through the cloud.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Jobs can run on IBM quantum processors or simulato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rs.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Researchers and businesses can experiment without owning quantum hardware.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IBM Quantum d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emonstrates how QCaaS brings quantum computing to real-world users.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Saveetha Institute of Medical And Technical Sciences - [SIMATS ..."/>
          <p:cNvSpPr/>
          <p:nvPr/>
        </p:nvSpPr>
        <p:spPr>
          <a:xfrm flipH="false" flipV="false" rot="0">
            <a:off x="16792227" y="328474"/>
            <a:ext cx="934145" cy="934145"/>
          </a:xfrm>
          <a:custGeom>
            <a:avLst/>
            <a:gdLst/>
            <a:ahLst/>
            <a:cxnLst/>
            <a:rect r="r" b="b" t="t" l="l"/>
            <a:pathLst>
              <a:path h="934145" w="934145">
                <a:moveTo>
                  <a:pt x="0" y="0"/>
                </a:moveTo>
                <a:lnTo>
                  <a:pt x="934146" y="0"/>
                </a:lnTo>
                <a:lnTo>
                  <a:pt x="934146" y="934146"/>
                </a:lnTo>
                <a:lnTo>
                  <a:pt x="0" y="934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2636" y="254475"/>
            <a:ext cx="766064" cy="1008145"/>
          </a:xfrm>
          <a:custGeom>
            <a:avLst/>
            <a:gdLst/>
            <a:ahLst/>
            <a:cxnLst/>
            <a:rect r="r" b="b" t="t" l="l"/>
            <a:pathLst>
              <a:path h="1008145" w="766064">
                <a:moveTo>
                  <a:pt x="0" y="0"/>
                </a:moveTo>
                <a:lnTo>
                  <a:pt x="766064" y="0"/>
                </a:lnTo>
                <a:lnTo>
                  <a:pt x="766064" y="1008145"/>
                </a:lnTo>
                <a:lnTo>
                  <a:pt x="0" y="1008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771564" y="2621416"/>
            <a:ext cx="6954809" cy="3912080"/>
          </a:xfrm>
          <a:custGeom>
            <a:avLst/>
            <a:gdLst/>
            <a:ahLst/>
            <a:cxnLst/>
            <a:rect r="r" b="b" t="t" l="l"/>
            <a:pathLst>
              <a:path h="3912080" w="6954809">
                <a:moveTo>
                  <a:pt x="0" y="0"/>
                </a:moveTo>
                <a:lnTo>
                  <a:pt x="6954809" y="0"/>
                </a:lnTo>
                <a:lnTo>
                  <a:pt x="6954809" y="3912080"/>
                </a:lnTo>
                <a:lnTo>
                  <a:pt x="0" y="3912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9381" y="177522"/>
            <a:ext cx="1620209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D0D0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LIMITATIONS OF QCAAS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49381" y="2382462"/>
            <a:ext cx="9843237" cy="617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High Cost: Advanced quantum hardware and cloud access can still be expensive.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Quantum Errors: Qubits are sensitive to noise and environmental disturbances.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L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imited Scalability: Current quantum p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rocessors have limi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tations in qubit count and reli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ability.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Sp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ecialized Skills: Quantum programming requires new technical knowledge.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Limited Use Cases: Quantum computing is not faster for every type of problem.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Saveetha Institute of Medical And Technical Sciences - [SIMATS ..."/>
          <p:cNvSpPr/>
          <p:nvPr/>
        </p:nvSpPr>
        <p:spPr>
          <a:xfrm flipH="false" flipV="false" rot="0">
            <a:off x="16792227" y="328474"/>
            <a:ext cx="934145" cy="934145"/>
          </a:xfrm>
          <a:custGeom>
            <a:avLst/>
            <a:gdLst/>
            <a:ahLst/>
            <a:cxnLst/>
            <a:rect r="r" b="b" t="t" l="l"/>
            <a:pathLst>
              <a:path h="934145" w="934145">
                <a:moveTo>
                  <a:pt x="0" y="0"/>
                </a:moveTo>
                <a:lnTo>
                  <a:pt x="934146" y="0"/>
                </a:lnTo>
                <a:lnTo>
                  <a:pt x="934146" y="934146"/>
                </a:lnTo>
                <a:lnTo>
                  <a:pt x="0" y="9341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62636" y="254475"/>
            <a:ext cx="766064" cy="1008145"/>
          </a:xfrm>
          <a:custGeom>
            <a:avLst/>
            <a:gdLst/>
            <a:ahLst/>
            <a:cxnLst/>
            <a:rect r="r" b="b" t="t" l="l"/>
            <a:pathLst>
              <a:path h="1008145" w="766064">
                <a:moveTo>
                  <a:pt x="0" y="0"/>
                </a:moveTo>
                <a:lnTo>
                  <a:pt x="766064" y="0"/>
                </a:lnTo>
                <a:lnTo>
                  <a:pt x="766064" y="1008145"/>
                </a:lnTo>
                <a:lnTo>
                  <a:pt x="0" y="10081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488905" y="3081017"/>
            <a:ext cx="7333273" cy="4124966"/>
          </a:xfrm>
          <a:custGeom>
            <a:avLst/>
            <a:gdLst/>
            <a:ahLst/>
            <a:cxnLst/>
            <a:rect r="r" b="b" t="t" l="l"/>
            <a:pathLst>
              <a:path h="4124966" w="7333273">
                <a:moveTo>
                  <a:pt x="0" y="0"/>
                </a:moveTo>
                <a:lnTo>
                  <a:pt x="7333273" y="0"/>
                </a:lnTo>
                <a:lnTo>
                  <a:pt x="7333273" y="4124966"/>
                </a:lnTo>
                <a:lnTo>
                  <a:pt x="0" y="412496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49381" y="177522"/>
            <a:ext cx="16202092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b="true" sz="6000">
                <a:solidFill>
                  <a:srgbClr val="0D0D0D"/>
                </a:solidFill>
                <a:latin typeface="Museo Moderno Bold"/>
                <a:ea typeface="Museo Moderno Bold"/>
                <a:cs typeface="Museo Moderno Bold"/>
                <a:sym typeface="Museo Moderno Bold"/>
              </a:rPr>
              <a:t> CONCLUSION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45668" y="2038451"/>
            <a:ext cx="9843237" cy="6581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QCaaS brings quantum computing to the cloud, making advanced quantum resources accessible remotely.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It red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uces the need for organizations to own and maintain quantum hardware.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Real-world applications are eme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rging in aut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omotive, finance, h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e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al</a:t>
            </a: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thcare, chemistry, and logistics.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Future improvements in qubit quality, error correction, and scalability can expand its practical use.</a:t>
            </a:r>
          </a:p>
          <a:p>
            <a:pPr algn="l">
              <a:lnSpc>
                <a:spcPts val="3239"/>
              </a:lnSpc>
            </a:pPr>
          </a:p>
          <a:p>
            <a:pPr algn="l" marL="582927" indent="-291463" lvl="1">
              <a:lnSpc>
                <a:spcPts val="3239"/>
              </a:lnSpc>
              <a:buFont typeface="Arial"/>
              <a:buChar char="•"/>
            </a:pPr>
            <a:r>
              <a:rPr lang="en-US" sz="2699">
                <a:solidFill>
                  <a:srgbClr val="0D0D0D"/>
                </a:solidFill>
                <a:latin typeface="Poppins"/>
                <a:ea typeface="Poppins"/>
                <a:cs typeface="Poppins"/>
                <a:sym typeface="Poppins"/>
              </a:rPr>
              <a:t>QCaaS has the potential to become an important part of next-generation cloud platforms.</a:t>
            </a:r>
          </a:p>
          <a:p>
            <a:pPr algn="l">
              <a:lnSpc>
                <a:spcPts val="3239"/>
              </a:lnSpc>
            </a:pP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 descr="Saveetha Institute of Medical And Technical Sciences - [SIMATS ..."/>
          <p:cNvSpPr/>
          <p:nvPr/>
        </p:nvSpPr>
        <p:spPr>
          <a:xfrm flipH="false" flipV="false" rot="0">
            <a:off x="16799223" y="431760"/>
            <a:ext cx="920154" cy="920154"/>
          </a:xfrm>
          <a:custGeom>
            <a:avLst/>
            <a:gdLst/>
            <a:ahLst/>
            <a:cxnLst/>
            <a:rect r="r" b="b" t="t" l="l"/>
            <a:pathLst>
              <a:path h="920154" w="920154">
                <a:moveTo>
                  <a:pt x="0" y="0"/>
                </a:moveTo>
                <a:lnTo>
                  <a:pt x="920154" y="0"/>
                </a:lnTo>
                <a:lnTo>
                  <a:pt x="920154" y="920154"/>
                </a:lnTo>
                <a:lnTo>
                  <a:pt x="0" y="92015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9892" y="488394"/>
            <a:ext cx="656167" cy="863519"/>
          </a:xfrm>
          <a:custGeom>
            <a:avLst/>
            <a:gdLst/>
            <a:ahLst/>
            <a:cxnLst/>
            <a:rect r="r" b="b" t="t" l="l"/>
            <a:pathLst>
              <a:path h="863519" w="656167">
                <a:moveTo>
                  <a:pt x="0" y="0"/>
                </a:moveTo>
                <a:lnTo>
                  <a:pt x="656167" y="0"/>
                </a:lnTo>
                <a:lnTo>
                  <a:pt x="656167" y="863520"/>
                </a:lnTo>
                <a:lnTo>
                  <a:pt x="0" y="8635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820669" y="1351914"/>
            <a:ext cx="15290193" cy="8600734"/>
          </a:xfrm>
          <a:custGeom>
            <a:avLst/>
            <a:gdLst/>
            <a:ahLst/>
            <a:cxnLst/>
            <a:rect r="r" b="b" t="t" l="l"/>
            <a:pathLst>
              <a:path h="8600734" w="15290193">
                <a:moveTo>
                  <a:pt x="0" y="0"/>
                </a:moveTo>
                <a:lnTo>
                  <a:pt x="15290193" y="0"/>
                </a:lnTo>
                <a:lnTo>
                  <a:pt x="15290193" y="8600734"/>
                </a:lnTo>
                <a:lnTo>
                  <a:pt x="0" y="86007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DAHXNwQn-Ic</dc:identifier>
  <dcterms:modified xsi:type="dcterms:W3CDTF">2011-08-01T06:04:30Z</dcterms:modified>
  <cp:revision>1</cp:revision>
  <dc:title>Cloud Computing Technical Presentation</dc:title>
</cp:coreProperties>
</file>